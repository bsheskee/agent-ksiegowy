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 snapToObjects="1">
      <p:cViewPr varScale="1">
        <p:scale>
          <a:sx n="95" d="100"/>
          <a:sy n="95" d="100"/>
        </p:scale>
        <p:origin x="200" y="6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4114800" cy="2011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Agent Księgowy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FDBFF"/>
                </a:solidFill>
              </a:rPr>
              <a:t>System automatycznej analizy faktur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5486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94A3B8"/>
                </a:solidFill>
              </a:rPr>
              <a:t>Przedmiot: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Podstawy systemów informatycznych / Metodyka zarządzania informacją — Projekt</a:t>
            </a:r>
          </a:p>
          <a:p>
            <a:pPr algn="l"/>
            <a:endParaRPr sz="1300" b="0" i="0">
              <a:solidFill>
                <a:srgbClr val="FFFFFF"/>
              </a:solidFill>
            </a:endParaRPr>
          </a:p>
          <a:p>
            <a:pPr algn="l"/>
            <a:r>
              <a:rPr sz="1200" b="1" i="0">
                <a:solidFill>
                  <a:srgbClr val="94A3B8"/>
                </a:solidFill>
              </a:rPr>
              <a:t>Dydaktyk: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prof. Niedźwierdziński Marian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63440"/>
            <a:ext cx="8686800" cy="1508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2563EB"/>
                </a:solidFill>
              </a:rPr>
              <a:t>Autorzy projektu: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Bartłomiej Białobrzewski,  Aner Ot,  Michał Studziński,  Piotr Mazur</a:t>
            </a:r>
          </a:p>
          <a:p>
            <a:pPr algn="l"/>
            <a:endParaRPr sz="1400" b="0" i="0">
              <a:solidFill>
                <a:srgbClr val="FFFFFF"/>
              </a:solidFill>
            </a:endParaRPr>
          </a:p>
          <a:p>
            <a:pPr algn="l"/>
            <a:r>
              <a:rPr sz="1200" b="0" i="0">
                <a:solidFill>
                  <a:srgbClr val="94A3B8"/>
                </a:solidFill>
              </a:rPr>
              <a:t>11 czerwca 2026</a:t>
            </a:r>
          </a:p>
        </p:txBody>
      </p:sp>
      <p:pic>
        <p:nvPicPr>
          <p:cNvPr id="11" name="Obraz 1">
            <a:extLst>
              <a:ext uri="{FF2B5EF4-FFF2-40B4-BE49-F238E27FC236}">
                <a16:creationId xmlns:a16="http://schemas.microsoft.com/office/drawing/2014/main" id="{A6CED52E-EAA6-E75D-A281-CADAA6C2D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349" y="216749"/>
            <a:ext cx="3645679" cy="1413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 prezentacji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Co omówimy podczas prezentacji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261872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Kontekst biznesowy i 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5916" y="1188720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5916" y="118872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5916" y="1188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276" y="1261872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Cel, zakres i stos technologiczny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19072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719072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1719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1792224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Architektura — pipeline przetwarzania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1719072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5916" y="1719072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85916" y="1719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0276" y="1792224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Pulpit (Dashboard)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249424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249424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2494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322576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Nowa faktura — przesyłanie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5916" y="2249424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5916" y="2249424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5916" y="22494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0276" y="2322576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Wynik analizy faktury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779776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779776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7797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852928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Edycja i pozycje faktury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5916" y="2779776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85916" y="2779776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85916" y="27797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0276" y="2852928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Lista dokumentów i filtrowanie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10128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3310128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310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3383280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Statystyki i wykresy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5916" y="3310128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85916" y="3310128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85916" y="3310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0276" y="3383280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Tryb ciemny i responsywność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840480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384048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3840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3913632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Agent Księgowy a KSeF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5916" y="3840480"/>
            <a:ext cx="55458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85916" y="384048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85916" y="3840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0276" y="3913632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Podsumowanie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Kontekst biznesowy i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Biuro Rachunkowe Libra Tax Sp. z o.o.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73736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18872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1307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Czasu tracono na ręczne przepisywanie danych z faktur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48840"/>
            <a:ext cx="173736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Błędy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14884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60" y="226771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Ludzkie pomyłki przy przepisywaniu NIP-ów, kwot i numerów faktur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173736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Niespójność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10896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23160" y="32278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Różni pracownicy klasyfikują te same wydatki do różnych kategorii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173736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Skala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06908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41879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Od kilku do kilkunastu tysięcy faktur miesięcznie — niewykonalne ręcznie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11274552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10908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Cel: redukcja czasu przetwarzania pojedynczej faktury o min. 70% przy 100% poprawności danych dzięki weryfikacji przez człowieka.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Cel projektu i stos technologiczny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Zakres systemu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Upload plików PDF, JPG, PNG (maks. 25 MB)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Ekstrakcja tekstu: warstwa PDF (pypdf) + Tesseract OCR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Heurystyczna ekstrakcja pól (13 kategorii kosztowych)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Opcjonalne wzbogacenie przez Bielik LLM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Weryfikacja i korekta przez użytkownika (human-in-the-loop)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Eksport danych CSV / XLSX (21 kolumn)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Dashboard KPI + wykresy Chart.js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E293B"/>
                </a:solidFill>
              </a:rPr>
              <a:t>▸  SHA-256 deduplikacja dokumentów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5778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5778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Stos technologiczny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563EB"/>
                </a:solidFill>
              </a:rPr>
              <a:t>Backend:  </a:t>
            </a:r>
            <a:r>
              <a:rPr sz="1300">
                <a:solidFill>
                  <a:srgbClr val="1E293B"/>
                </a:solidFill>
              </a:rPr>
              <a:t>FastAPI · Python 3.12 · Uvicorn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563EB"/>
                </a:solidFill>
              </a:rPr>
              <a:t>Baza:  </a:t>
            </a:r>
            <a:r>
              <a:rPr sz="1300">
                <a:solidFill>
                  <a:srgbClr val="1E293B"/>
                </a:solidFill>
              </a:rPr>
              <a:t>SQLite (json_extract filtrowanie)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563EB"/>
                </a:solidFill>
              </a:rPr>
              <a:t>OCR:  </a:t>
            </a:r>
            <a:r>
              <a:rPr sz="1300">
                <a:solidFill>
                  <a:srgbClr val="1E293B"/>
                </a:solidFill>
              </a:rPr>
              <a:t>pypdf + Tesseract (pol+eng)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563EB"/>
                </a:solidFill>
              </a:rPr>
              <a:t>LLM:  </a:t>
            </a:r>
            <a:r>
              <a:rPr sz="1300">
                <a:solidFill>
                  <a:srgbClr val="1E293B"/>
                </a:solidFill>
              </a:rPr>
              <a:t>Bielik (opcjonalny, via HTTP)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563EB"/>
                </a:solidFill>
              </a:rPr>
              <a:t>Frontend:  </a:t>
            </a:r>
            <a:r>
              <a:rPr sz="1300">
                <a:solidFill>
                  <a:srgbClr val="1E293B"/>
                </a:solidFill>
              </a:rPr>
              <a:t>Vanilla JS · Chart.js v4.4 · CSS Dark Mode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563EB"/>
                </a:solidFill>
              </a:rPr>
              <a:t>Eksport:  </a:t>
            </a:r>
            <a:r>
              <a:rPr sz="1300">
                <a:solidFill>
                  <a:srgbClr val="1E293B"/>
                </a:solidFill>
              </a:rPr>
              <a:t>openpyxl (XLSX) · csv (CSV)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563EB"/>
                </a:solidFill>
              </a:rPr>
              <a:t>Deploy:  </a:t>
            </a:r>
            <a:r>
              <a:rPr sz="1300">
                <a:solidFill>
                  <a:srgbClr val="1E293B"/>
                </a:solidFill>
              </a:rPr>
              <a:t>start.sh / start.ps1 · lokalny,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Architektura systemu — pipeline przetwarzania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" y="2194560"/>
            <a:ext cx="16459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800"/>
              </a:spcBef>
            </a:pPr>
            <a:r>
              <a:rPr sz="1400" b="1" i="0">
                <a:solidFill>
                  <a:srgbClr val="FFFFFF"/>
                </a:solidFill>
              </a:rPr>
              <a:t>Upload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PDF / JPG / PNG
maks. 25 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8004" y="2670048"/>
            <a:ext cx="164592" cy="1463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0884" y="2194560"/>
            <a:ext cx="16459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00884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800"/>
              </a:spcBef>
            </a:pPr>
            <a:r>
              <a:rPr sz="1400" b="1" i="0">
                <a:solidFill>
                  <a:srgbClr val="FFFFFF"/>
                </a:solidFill>
              </a:rPr>
              <a:t>OCR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pypdf text layer
lub Tesseract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5092" y="2670048"/>
            <a:ext cx="164592" cy="1463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7972" y="2194560"/>
            <a:ext cx="16459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7972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800"/>
              </a:spcBef>
            </a:pPr>
            <a:r>
              <a:rPr sz="1400" b="1" i="0">
                <a:solidFill>
                  <a:srgbClr val="FFFFFF"/>
                </a:solidFill>
              </a:rPr>
              <a:t>Heurystyka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Ekstrakcja pól
13 kategorii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2180" y="2670048"/>
            <a:ext cx="164592" cy="1463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5060" y="2194560"/>
            <a:ext cx="164592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5060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800"/>
              </a:spcBef>
            </a:pPr>
            <a:r>
              <a:rPr sz="1400" b="1" i="0">
                <a:solidFill>
                  <a:srgbClr val="FFFFFF"/>
                </a:solidFill>
              </a:rPr>
              <a:t>Bielik LLM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Wzbogacenie
(opcjonalne)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9268" y="2670048"/>
            <a:ext cx="164592" cy="1463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2148" y="2194560"/>
            <a:ext cx="16459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2148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800"/>
              </a:spcBef>
            </a:pPr>
            <a:r>
              <a:rPr sz="1400" b="1" i="0">
                <a:solidFill>
                  <a:srgbClr val="FFFFFF"/>
                </a:solidFill>
              </a:rPr>
              <a:t>Merge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merge_invoice
_analysis()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06356" y="2670048"/>
            <a:ext cx="164592" cy="1463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89236" y="2194560"/>
            <a:ext cx="16459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89236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800"/>
              </a:spcBef>
            </a:pPr>
            <a:r>
              <a:rPr sz="1400" b="1" i="0">
                <a:solidFill>
                  <a:srgbClr val="FFFFFF"/>
                </a:solidFill>
              </a:rPr>
              <a:t>SQLite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Zapis do bazy
audit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50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(jeśli AGENT_KS_BIELIK_URL ustawiony)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FastAPI REST API  ·  Frontend Vanilla JS  ·  SQLite json_extract  ·  CSV / XLSX eksport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Role: Administrator · Główny Księgowy · Młodszy Księgowy / Operator · Klient Biura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Pulpit (Dashboard)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Centrum dowodzenia — pierwszy widok użytkownika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 / 14</a:t>
            </a:r>
          </a:p>
        </p:txBody>
      </p:sp>
      <p:pic>
        <p:nvPicPr>
          <p:cNvPr id="10" name="Picture 9" descr="01_pulp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3258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/>
            <a:r>
              <a:rPr sz="1500" b="1" i="0" dirty="0" err="1">
                <a:solidFill>
                  <a:srgbClr val="2563EB"/>
                </a:solidFill>
              </a:rPr>
              <a:t>Kluczowe</a:t>
            </a:r>
            <a:r>
              <a:rPr sz="1500" b="1" i="0" dirty="0">
                <a:solidFill>
                  <a:srgbClr val="2563EB"/>
                </a:solidFill>
              </a:rPr>
              <a:t> </a:t>
            </a:r>
            <a:r>
              <a:rPr sz="1500" b="1" i="0" dirty="0" err="1">
                <a:solidFill>
                  <a:srgbClr val="2563EB"/>
                </a:solidFill>
              </a:rPr>
              <a:t>elementy</a:t>
            </a:r>
            <a:endParaRPr sz="1500" b="1" i="0" dirty="0">
              <a:solidFill>
                <a:srgbClr val="2563E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Karty</a:t>
            </a:r>
            <a:r>
              <a:rPr sz="1200" b="0" i="0" dirty="0">
                <a:solidFill>
                  <a:srgbClr val="1E293B"/>
                </a:solidFill>
              </a:rPr>
              <a:t> KPI: </a:t>
            </a:r>
            <a:r>
              <a:rPr sz="1200" b="0" i="0" dirty="0" err="1">
                <a:solidFill>
                  <a:srgbClr val="1E293B"/>
                </a:solidFill>
              </a:rPr>
              <a:t>liczba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faktur</a:t>
            </a:r>
            <a:r>
              <a:rPr sz="1200" b="0" i="0" dirty="0">
                <a:solidFill>
                  <a:srgbClr val="1E293B"/>
                </a:solidFill>
              </a:rPr>
              <a:t> + </a:t>
            </a:r>
            <a:r>
              <a:rPr sz="1200" b="0" i="0" dirty="0" err="1">
                <a:solidFill>
                  <a:srgbClr val="1E293B"/>
                </a:solidFill>
              </a:rPr>
              <a:t>łączna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wartość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brutto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Lista 5 </a:t>
            </a:r>
            <a:r>
              <a:rPr sz="1200" b="0" i="0" dirty="0" err="1">
                <a:solidFill>
                  <a:srgbClr val="1E293B"/>
                </a:solidFill>
              </a:rPr>
              <a:t>ostatnich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dokumentów</a:t>
            </a:r>
            <a:r>
              <a:rPr sz="1200" b="0" i="0" dirty="0">
                <a:solidFill>
                  <a:srgbClr val="1E293B"/>
                </a:solidFill>
              </a:rPr>
              <a:t> z </a:t>
            </a:r>
            <a:r>
              <a:rPr sz="1200" b="0" i="0" dirty="0" err="1">
                <a:solidFill>
                  <a:srgbClr val="1E293B"/>
                </a:solidFill>
              </a:rPr>
              <a:t>kolorami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statusów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Statusy: </a:t>
            </a:r>
            <a:r>
              <a:rPr sz="1200" b="0" i="0" dirty="0" err="1">
                <a:solidFill>
                  <a:srgbClr val="1E293B"/>
                </a:solidFill>
              </a:rPr>
              <a:t>zielony</a:t>
            </a:r>
            <a:r>
              <a:rPr sz="1200" b="0" i="0" dirty="0">
                <a:solidFill>
                  <a:srgbClr val="1E293B"/>
                </a:solidFill>
              </a:rPr>
              <a:t> / </a:t>
            </a:r>
            <a:r>
              <a:rPr sz="1200" b="0" i="0" dirty="0" err="1">
                <a:solidFill>
                  <a:srgbClr val="1E293B"/>
                </a:solidFill>
              </a:rPr>
              <a:t>bursztynowy</a:t>
            </a:r>
            <a:r>
              <a:rPr sz="1200" b="0" i="0" dirty="0">
                <a:solidFill>
                  <a:srgbClr val="1E293B"/>
                </a:solidFill>
              </a:rPr>
              <a:t> / </a:t>
            </a:r>
            <a:r>
              <a:rPr sz="1200" b="0" i="0" dirty="0" err="1">
                <a:solidFill>
                  <a:srgbClr val="1E293B"/>
                </a:solidFill>
              </a:rPr>
              <a:t>czerwony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Kolorowe</a:t>
            </a:r>
            <a:r>
              <a:rPr sz="1200" b="0" i="0" dirty="0">
                <a:solidFill>
                  <a:srgbClr val="1E293B"/>
                </a:solidFill>
              </a:rPr>
              <a:t> badge </a:t>
            </a:r>
            <a:r>
              <a:rPr sz="1200" b="0" i="0" dirty="0" err="1">
                <a:solidFill>
                  <a:srgbClr val="1E293B"/>
                </a:solidFill>
              </a:rPr>
              <a:t>kategorii</a:t>
            </a:r>
            <a:r>
              <a:rPr sz="1200" b="0" i="0" dirty="0">
                <a:solidFill>
                  <a:srgbClr val="1E293B"/>
                </a:solidFill>
              </a:rPr>
              <a:t> (13 </a:t>
            </a:r>
            <a:r>
              <a:rPr sz="1200" b="0" i="0" dirty="0" err="1">
                <a:solidFill>
                  <a:srgbClr val="1E293B"/>
                </a:solidFill>
              </a:rPr>
              <a:t>typów</a:t>
            </a:r>
            <a:r>
              <a:rPr sz="1200" b="0" i="0" dirty="0">
                <a:solidFill>
                  <a:srgbClr val="1E293B"/>
                </a:solidFill>
              </a:rPr>
              <a:t>)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Dane z GET /stats </a:t>
            </a:r>
            <a:r>
              <a:rPr sz="1200" b="0" i="0" dirty="0" err="1">
                <a:solidFill>
                  <a:srgbClr val="1E293B"/>
                </a:solidFill>
              </a:rPr>
              <a:t>i</a:t>
            </a:r>
            <a:r>
              <a:rPr sz="1200" b="0" i="0" dirty="0">
                <a:solidFill>
                  <a:srgbClr val="1E293B"/>
                </a:solidFill>
              </a:rPr>
              <a:t> GET /</a:t>
            </a:r>
            <a:r>
              <a:rPr sz="1200" b="0" i="0" dirty="0" err="1">
                <a:solidFill>
                  <a:srgbClr val="1E293B"/>
                </a:solidFill>
              </a:rPr>
              <a:t>invoices?limit</a:t>
            </a:r>
            <a:r>
              <a:rPr sz="1200" b="0" i="0" dirty="0">
                <a:solidFill>
                  <a:srgbClr val="1E293B"/>
                </a:solidFill>
              </a:rPr>
              <a:t>=5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Odświeżanie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automatyczne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przy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zmianie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strony</a:t>
            </a:r>
            <a:endParaRPr sz="1200" b="0" i="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Nowa faktura — przesyłanie i przetwarzanie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Drag &amp; drop → jeden przycisk → wynik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 / 14</a:t>
            </a:r>
          </a:p>
        </p:txBody>
      </p:sp>
      <p:pic>
        <p:nvPicPr>
          <p:cNvPr id="10" name="Picture 9" descr="11_przesylanie_pli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99705" y="13258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/>
            <a:r>
              <a:rPr sz="1500" b="1" i="0" dirty="0" err="1">
                <a:solidFill>
                  <a:srgbClr val="2563EB"/>
                </a:solidFill>
              </a:rPr>
              <a:t>Przepływ</a:t>
            </a:r>
            <a:r>
              <a:rPr sz="1500" b="1" i="0" dirty="0">
                <a:solidFill>
                  <a:srgbClr val="2563EB"/>
                </a:solidFill>
              </a:rPr>
              <a:t> end-to-end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Obsługa</a:t>
            </a:r>
            <a:r>
              <a:rPr sz="1200" b="0" i="0" dirty="0">
                <a:solidFill>
                  <a:srgbClr val="1E293B"/>
                </a:solidFill>
              </a:rPr>
              <a:t> PDF, JPG, PNG (</a:t>
            </a:r>
            <a:r>
              <a:rPr sz="1200" b="0" i="0" dirty="0" err="1">
                <a:solidFill>
                  <a:srgbClr val="1E293B"/>
                </a:solidFill>
              </a:rPr>
              <a:t>maks</a:t>
            </a:r>
            <a:r>
              <a:rPr sz="1200" b="0" i="0" dirty="0">
                <a:solidFill>
                  <a:srgbClr val="1E293B"/>
                </a:solidFill>
              </a:rPr>
              <a:t>. 25 MB)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Drag &amp; drop </a:t>
            </a:r>
            <a:r>
              <a:rPr sz="1200" b="0" i="0" dirty="0" err="1">
                <a:solidFill>
                  <a:srgbClr val="1E293B"/>
                </a:solidFill>
              </a:rPr>
              <a:t>lub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kliknięcie</a:t>
            </a:r>
            <a:r>
              <a:rPr sz="1200" b="0" i="0" dirty="0">
                <a:solidFill>
                  <a:srgbClr val="1E293B"/>
                </a:solidFill>
              </a:rPr>
              <a:t> — </a:t>
            </a:r>
            <a:r>
              <a:rPr sz="1200" b="0" i="0" dirty="0" err="1">
                <a:solidFill>
                  <a:srgbClr val="1E293B"/>
                </a:solidFill>
              </a:rPr>
              <a:t>wybór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pliku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Jeden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przycisk</a:t>
            </a:r>
            <a:r>
              <a:rPr sz="1200" b="0" i="0" dirty="0">
                <a:solidFill>
                  <a:srgbClr val="1E293B"/>
                </a:solidFill>
              </a:rPr>
              <a:t>: </a:t>
            </a:r>
            <a:r>
              <a:rPr sz="1200" b="0" i="0" dirty="0" err="1">
                <a:solidFill>
                  <a:srgbClr val="1E293B"/>
                </a:solidFill>
              </a:rPr>
              <a:t>Przetwórz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dokument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POST /upload-and-process — pipeline w </a:t>
            </a:r>
            <a:r>
              <a:rPr sz="1200" b="0" i="0" dirty="0" err="1">
                <a:solidFill>
                  <a:srgbClr val="1E293B"/>
                </a:solidFill>
              </a:rPr>
              <a:t>tle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SHA-256 </a:t>
            </a:r>
            <a:r>
              <a:rPr sz="1200" b="0" i="0" dirty="0" err="1">
                <a:solidFill>
                  <a:srgbClr val="1E293B"/>
                </a:solidFill>
              </a:rPr>
              <a:t>deduplikacja</a:t>
            </a:r>
            <a:r>
              <a:rPr sz="1200" b="0" i="0" dirty="0">
                <a:solidFill>
                  <a:srgbClr val="1E293B"/>
                </a:solidFill>
              </a:rPr>
              <a:t> — </a:t>
            </a:r>
            <a:r>
              <a:rPr sz="1200" b="0" i="0" dirty="0" err="1">
                <a:solidFill>
                  <a:srgbClr val="1E293B"/>
                </a:solidFill>
              </a:rPr>
              <a:t>wykrywa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duplikaty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Status: uploaded → processing → processed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Audit log w </a:t>
            </a:r>
            <a:r>
              <a:rPr sz="1200" b="0" i="0" dirty="0" err="1">
                <a:solidFill>
                  <a:srgbClr val="1E293B"/>
                </a:solidFill>
              </a:rPr>
              <a:t>tabeli</a:t>
            </a:r>
            <a:r>
              <a:rPr sz="1200" b="0" i="0" dirty="0">
                <a:solidFill>
                  <a:srgbClr val="1E293B"/>
                </a:solidFill>
              </a:rPr>
              <a:t>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Wynik analizy faktury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Z surowego PDF/JPG do ustrukturyzowanych danych księgowych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 / 14</a:t>
            </a:r>
          </a:p>
        </p:txBody>
      </p:sp>
      <p:pic>
        <p:nvPicPr>
          <p:cNvPr id="10" name="Picture 9" descr="03_wynik_analiz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08392" y="13258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/>
            <a:r>
              <a:rPr sz="1500" b="1" i="0" dirty="0">
                <a:solidFill>
                  <a:srgbClr val="2563EB"/>
                </a:solidFill>
              </a:rPr>
              <a:t>Co </a:t>
            </a:r>
            <a:r>
              <a:rPr sz="1500" b="1" i="0" dirty="0" err="1">
                <a:solidFill>
                  <a:srgbClr val="2563EB"/>
                </a:solidFill>
              </a:rPr>
              <a:t>wyodrębnia</a:t>
            </a:r>
            <a:r>
              <a:rPr sz="1500" b="1" i="0" dirty="0">
                <a:solidFill>
                  <a:srgbClr val="2563EB"/>
                </a:solidFill>
              </a:rPr>
              <a:t> system?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Plakietki</a:t>
            </a:r>
            <a:r>
              <a:rPr sz="1200" b="0" i="0" dirty="0">
                <a:solidFill>
                  <a:srgbClr val="1E293B"/>
                </a:solidFill>
              </a:rPr>
              <a:t>: </a:t>
            </a:r>
            <a:r>
              <a:rPr sz="1200" b="0" i="0" dirty="0" err="1">
                <a:solidFill>
                  <a:srgbClr val="1E293B"/>
                </a:solidFill>
              </a:rPr>
              <a:t>Bielik</a:t>
            </a:r>
            <a:r>
              <a:rPr sz="1200" b="0" i="0" dirty="0">
                <a:solidFill>
                  <a:srgbClr val="1E293B"/>
                </a:solidFill>
              </a:rPr>
              <a:t> / </a:t>
            </a:r>
            <a:r>
              <a:rPr sz="1200" b="0" i="0" dirty="0" err="1">
                <a:solidFill>
                  <a:srgbClr val="1E293B"/>
                </a:solidFill>
              </a:rPr>
              <a:t>Heurystyka</a:t>
            </a:r>
            <a:r>
              <a:rPr sz="1200" b="0" i="0" dirty="0">
                <a:solidFill>
                  <a:srgbClr val="1E293B"/>
                </a:solidFill>
              </a:rPr>
              <a:t>, </a:t>
            </a:r>
            <a:r>
              <a:rPr sz="1200" b="0" i="0" dirty="0" err="1">
                <a:solidFill>
                  <a:srgbClr val="1E293B"/>
                </a:solidFill>
              </a:rPr>
              <a:t>Zatwierdzone</a:t>
            </a:r>
            <a:r>
              <a:rPr sz="1200" b="0" i="0" dirty="0">
                <a:solidFill>
                  <a:srgbClr val="1E293B"/>
                </a:solidFill>
              </a:rPr>
              <a:t> / </a:t>
            </a:r>
            <a:r>
              <a:rPr sz="1200" b="0" i="0" dirty="0" err="1">
                <a:solidFill>
                  <a:srgbClr val="1E293B"/>
                </a:solidFill>
              </a:rPr>
              <a:t>Niezatwierdzone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Identyfikacja</a:t>
            </a:r>
            <a:r>
              <a:rPr sz="1200" b="0" i="0" dirty="0">
                <a:solidFill>
                  <a:srgbClr val="1E293B"/>
                </a:solidFill>
              </a:rPr>
              <a:t>: nr </a:t>
            </a:r>
            <a:r>
              <a:rPr sz="1200" b="0" i="0" dirty="0" err="1">
                <a:solidFill>
                  <a:srgbClr val="1E293B"/>
                </a:solidFill>
              </a:rPr>
              <a:t>faktury</a:t>
            </a:r>
            <a:r>
              <a:rPr sz="1200" b="0" i="0" dirty="0">
                <a:solidFill>
                  <a:srgbClr val="1E293B"/>
                </a:solidFill>
              </a:rPr>
              <a:t>, </a:t>
            </a:r>
            <a:r>
              <a:rPr sz="1200" b="0" i="0" dirty="0" err="1">
                <a:solidFill>
                  <a:srgbClr val="1E293B"/>
                </a:solidFill>
              </a:rPr>
              <a:t>daty</a:t>
            </a:r>
            <a:r>
              <a:rPr sz="1200" b="0" i="0" dirty="0">
                <a:solidFill>
                  <a:srgbClr val="1E293B"/>
                </a:solidFill>
              </a:rPr>
              <a:t>, </a:t>
            </a:r>
            <a:r>
              <a:rPr sz="1200" b="0" i="0" dirty="0" err="1">
                <a:solidFill>
                  <a:srgbClr val="1E293B"/>
                </a:solidFill>
              </a:rPr>
              <a:t>miejsce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wystawienia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Karty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sprzedawcy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i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nabywcy</a:t>
            </a:r>
            <a:r>
              <a:rPr sz="1200" b="0" i="0" dirty="0">
                <a:solidFill>
                  <a:srgbClr val="1E293B"/>
                </a:solidFill>
              </a:rPr>
              <a:t> z NIP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Kwoty</a:t>
            </a:r>
            <a:r>
              <a:rPr sz="1200" b="0" i="0" dirty="0">
                <a:solidFill>
                  <a:srgbClr val="1E293B"/>
                </a:solidFill>
              </a:rPr>
              <a:t>: </a:t>
            </a:r>
            <a:r>
              <a:rPr sz="1200" b="0" i="0" dirty="0" err="1">
                <a:solidFill>
                  <a:srgbClr val="1E293B"/>
                </a:solidFill>
              </a:rPr>
              <a:t>netto</a:t>
            </a:r>
            <a:r>
              <a:rPr sz="1200" b="0" i="0" dirty="0">
                <a:solidFill>
                  <a:srgbClr val="1E293B"/>
                </a:solidFill>
              </a:rPr>
              <a:t>, VAT, </a:t>
            </a:r>
            <a:r>
              <a:rPr sz="1200" b="0" i="0" dirty="0" err="1">
                <a:solidFill>
                  <a:srgbClr val="1E293B"/>
                </a:solidFill>
              </a:rPr>
              <a:t>brutto</a:t>
            </a:r>
            <a:r>
              <a:rPr sz="1200" b="0" i="0" dirty="0">
                <a:solidFill>
                  <a:srgbClr val="1E293B"/>
                </a:solidFill>
              </a:rPr>
              <a:t>, </a:t>
            </a:r>
            <a:r>
              <a:rPr sz="1200" b="0" i="0" dirty="0" err="1">
                <a:solidFill>
                  <a:srgbClr val="1E293B"/>
                </a:solidFill>
              </a:rPr>
              <a:t>waluta</a:t>
            </a:r>
            <a:r>
              <a:rPr sz="1200" b="0" i="0" dirty="0">
                <a:solidFill>
                  <a:srgbClr val="1E293B"/>
                </a:solidFill>
              </a:rPr>
              <a:t> (format PL)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Kategoria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kosztowa</a:t>
            </a:r>
            <a:r>
              <a:rPr sz="1200" b="0" i="0" dirty="0">
                <a:solidFill>
                  <a:srgbClr val="1E293B"/>
                </a:solidFill>
              </a:rPr>
              <a:t> (</a:t>
            </a:r>
            <a:r>
              <a:rPr sz="1200" b="0" i="0" dirty="0" err="1">
                <a:solidFill>
                  <a:srgbClr val="1E293B"/>
                </a:solidFill>
              </a:rPr>
              <a:t>kolorowy</a:t>
            </a:r>
            <a:r>
              <a:rPr sz="1200" b="0" i="0" dirty="0">
                <a:solidFill>
                  <a:srgbClr val="1E293B"/>
                </a:solidFill>
              </a:rPr>
              <a:t> badge, 13 </a:t>
            </a:r>
            <a:r>
              <a:rPr sz="1200" b="0" i="0" dirty="0" err="1">
                <a:solidFill>
                  <a:srgbClr val="1E293B"/>
                </a:solidFill>
              </a:rPr>
              <a:t>typów</a:t>
            </a:r>
            <a:r>
              <a:rPr sz="1200" b="0" i="0" dirty="0">
                <a:solidFill>
                  <a:srgbClr val="1E293B"/>
                </a:solidFill>
              </a:rPr>
              <a:t>)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Przyciski</a:t>
            </a:r>
            <a:r>
              <a:rPr sz="1200" b="0" i="0" dirty="0">
                <a:solidFill>
                  <a:srgbClr val="1E293B"/>
                </a:solidFill>
              </a:rPr>
              <a:t>: </a:t>
            </a:r>
            <a:r>
              <a:rPr sz="1200" b="0" i="0" dirty="0" err="1">
                <a:solidFill>
                  <a:srgbClr val="1E293B"/>
                </a:solidFill>
              </a:rPr>
              <a:t>Zatwierdź</a:t>
            </a:r>
            <a:r>
              <a:rPr sz="1200" b="0" i="0" dirty="0">
                <a:solidFill>
                  <a:srgbClr val="1E293B"/>
                </a:solidFill>
              </a:rPr>
              <a:t> · </a:t>
            </a:r>
            <a:r>
              <a:rPr sz="1200" b="0" i="0" dirty="0" err="1">
                <a:solidFill>
                  <a:srgbClr val="1E293B"/>
                </a:solidFill>
              </a:rPr>
              <a:t>Edytuj</a:t>
            </a:r>
            <a:r>
              <a:rPr sz="1200" b="0" i="0" dirty="0">
                <a:solidFill>
                  <a:srgbClr val="1E293B"/>
                </a:solidFill>
              </a:rPr>
              <a:t> · </a:t>
            </a:r>
            <a:r>
              <a:rPr sz="1200" b="0" i="0" dirty="0" err="1">
                <a:solidFill>
                  <a:srgbClr val="1E293B"/>
                </a:solidFill>
              </a:rPr>
              <a:t>Przetwórz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ponownie</a:t>
            </a:r>
            <a:endParaRPr sz="1200" b="0" i="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Edycja faktury i pozycje (line items)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Człowiek zawsze ma ostatnie słowo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 / 14</a:t>
            </a:r>
          </a:p>
        </p:txBody>
      </p:sp>
      <p:pic>
        <p:nvPicPr>
          <p:cNvPr id="10" name="Picture 9" descr="04_edycja_faktu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669280" cy="3543300"/>
          </a:xfrm>
          <a:prstGeom prst="rect">
            <a:avLst/>
          </a:prstGeom>
        </p:spPr>
      </p:pic>
      <p:pic>
        <p:nvPicPr>
          <p:cNvPr id="11" name="Picture 10" descr="03_wynik_analiz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669280" cy="35433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4320" y="1143000"/>
            <a:ext cx="22860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Modal edycji — 14 pól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2860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Tabela pozycji faktury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897880"/>
            <a:ext cx="116403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89788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Edycja → PATCH /analysis  ·  Tabela pozycji: parser 3 strategii (wiersze nazwane / zwarte / osierocone)  ·  Zapis natychmiastowy do SQLite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Lista dokumentów i filtrowanie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Centrum zarządzania bazą faktur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 / 14</a:t>
            </a:r>
          </a:p>
        </p:txBody>
      </p:sp>
      <p:pic>
        <p:nvPicPr>
          <p:cNvPr id="10" name="Picture 9" descr="05_lista_dokument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669280" cy="3543300"/>
          </a:xfrm>
          <a:prstGeom prst="rect">
            <a:avLst/>
          </a:prstGeom>
        </p:spPr>
      </p:pic>
      <p:pic>
        <p:nvPicPr>
          <p:cNvPr id="11" name="Picture 10" descr="06_filtrowanie_dokument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669280" cy="35433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4320" y="1143000"/>
            <a:ext cx="22860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Wszystkie dokumenty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2860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Filtrowanie po kategorii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897880"/>
            <a:ext cx="116403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89788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Filtry: szukaj · kategoria · status · zakres dat  ·  SQLite json_extract()  ·  Eksport CSV (BOM UTF-8) + XLSX (nagłówek #2563EB)  ·  21 kolumn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Statystyki i wykresy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Platforma analityczna, nie tylko przetwarzanie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 / 14</a:t>
            </a:r>
          </a:p>
        </p:txBody>
      </p:sp>
      <p:pic>
        <p:nvPicPr>
          <p:cNvPr id="10" name="Picture 9" descr="07_statystyki_wykre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40396" y="13258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/>
            <a:r>
              <a:rPr sz="1500" b="1" i="0" dirty="0" err="1">
                <a:solidFill>
                  <a:srgbClr val="2563EB"/>
                </a:solidFill>
              </a:rPr>
              <a:t>Analityka</a:t>
            </a:r>
            <a:r>
              <a:rPr sz="1500" b="1" i="0" dirty="0">
                <a:solidFill>
                  <a:srgbClr val="2563EB"/>
                </a:solidFill>
              </a:rPr>
              <a:t> </a:t>
            </a:r>
            <a:r>
              <a:rPr sz="1500" b="1" i="0" dirty="0" err="1">
                <a:solidFill>
                  <a:srgbClr val="2563EB"/>
                </a:solidFill>
              </a:rPr>
              <a:t>biznesowa</a:t>
            </a:r>
            <a:endParaRPr sz="1500" b="1" i="0" dirty="0">
              <a:solidFill>
                <a:srgbClr val="2563E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Karty</a:t>
            </a:r>
            <a:r>
              <a:rPr sz="1200" b="0" i="0" dirty="0">
                <a:solidFill>
                  <a:srgbClr val="1E293B"/>
                </a:solidFill>
              </a:rPr>
              <a:t> KPI: </a:t>
            </a:r>
            <a:r>
              <a:rPr sz="1200" b="0" i="0" dirty="0" err="1">
                <a:solidFill>
                  <a:srgbClr val="1E293B"/>
                </a:solidFill>
              </a:rPr>
              <a:t>liczba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faktur</a:t>
            </a:r>
            <a:r>
              <a:rPr sz="1200" b="0" i="0" dirty="0">
                <a:solidFill>
                  <a:srgbClr val="1E293B"/>
                </a:solidFill>
              </a:rPr>
              <a:t> + </a:t>
            </a:r>
            <a:r>
              <a:rPr sz="1200" b="0" i="0" dirty="0" err="1">
                <a:solidFill>
                  <a:srgbClr val="1E293B"/>
                </a:solidFill>
              </a:rPr>
              <a:t>łączna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wartość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brutto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Wykres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poziomy</a:t>
            </a:r>
            <a:r>
              <a:rPr sz="1200" b="0" i="0" dirty="0">
                <a:solidFill>
                  <a:srgbClr val="1E293B"/>
                </a:solidFill>
              </a:rPr>
              <a:t>: </a:t>
            </a:r>
            <a:r>
              <a:rPr sz="1200" b="0" i="0" dirty="0" err="1">
                <a:solidFill>
                  <a:srgbClr val="1E293B"/>
                </a:solidFill>
              </a:rPr>
              <a:t>wydatki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wg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kategorii</a:t>
            </a:r>
            <a:r>
              <a:rPr sz="1200" b="0" i="0" dirty="0">
                <a:solidFill>
                  <a:srgbClr val="1E293B"/>
                </a:solidFill>
              </a:rPr>
              <a:t> (13 </a:t>
            </a:r>
            <a:r>
              <a:rPr sz="1200" b="0" i="0" dirty="0" err="1">
                <a:solidFill>
                  <a:srgbClr val="1E293B"/>
                </a:solidFill>
              </a:rPr>
              <a:t>kolorów</a:t>
            </a:r>
            <a:r>
              <a:rPr sz="1200" b="0" i="0" dirty="0">
                <a:solidFill>
                  <a:srgbClr val="1E293B"/>
                </a:solidFill>
              </a:rPr>
              <a:t>)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Wykres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pionowy</a:t>
            </a:r>
            <a:r>
              <a:rPr sz="1200" b="0" i="0" dirty="0">
                <a:solidFill>
                  <a:srgbClr val="1E293B"/>
                </a:solidFill>
              </a:rPr>
              <a:t>: </a:t>
            </a:r>
            <a:r>
              <a:rPr sz="1200" b="0" i="0" dirty="0" err="1">
                <a:solidFill>
                  <a:srgbClr val="1E293B"/>
                </a:solidFill>
              </a:rPr>
              <a:t>wydatki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wg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miesiąca</a:t>
            </a:r>
            <a:r>
              <a:rPr sz="1200" b="0" i="0" dirty="0">
                <a:solidFill>
                  <a:srgbClr val="1E293B"/>
                </a:solidFill>
              </a:rPr>
              <a:t> (</a:t>
            </a:r>
            <a:r>
              <a:rPr sz="1200" b="0" i="0" dirty="0" err="1">
                <a:solidFill>
                  <a:srgbClr val="1E293B"/>
                </a:solidFill>
              </a:rPr>
              <a:t>ost</a:t>
            </a:r>
            <a:r>
              <a:rPr sz="1200" b="0" i="0" dirty="0">
                <a:solidFill>
                  <a:srgbClr val="1E293B"/>
                </a:solidFill>
              </a:rPr>
              <a:t>. 12 m.)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</a:t>
            </a:r>
            <a:r>
              <a:rPr sz="1200" b="0" i="0" dirty="0" err="1">
                <a:solidFill>
                  <a:srgbClr val="1E293B"/>
                </a:solidFill>
              </a:rPr>
              <a:t>Biblioteka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Chart.js</a:t>
            </a:r>
            <a:r>
              <a:rPr sz="1200" b="0" i="0" dirty="0">
                <a:solidFill>
                  <a:srgbClr val="1E293B"/>
                </a:solidFill>
              </a:rPr>
              <a:t> v4.4.4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Dane z GET /</a:t>
            </a:r>
            <a:r>
              <a:rPr sz="1200" b="0" i="0" dirty="0" err="1">
                <a:solidFill>
                  <a:srgbClr val="1E293B"/>
                </a:solidFill>
              </a:rPr>
              <a:t>api</a:t>
            </a:r>
            <a:r>
              <a:rPr sz="1200" b="0" i="0" dirty="0">
                <a:solidFill>
                  <a:srgbClr val="1E293B"/>
                </a:solidFill>
              </a:rPr>
              <a:t>/v1/invoices/stats</a:t>
            </a: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Backend </a:t>
            </a:r>
            <a:r>
              <a:rPr sz="1200" b="0" i="0" dirty="0" err="1">
                <a:solidFill>
                  <a:srgbClr val="1E293B"/>
                </a:solidFill>
              </a:rPr>
              <a:t>agreguje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kwoty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przed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zwrotem</a:t>
            </a:r>
            <a:endParaRPr sz="1200" b="0" i="0" dirty="0">
              <a:solidFill>
                <a:srgbClr val="1E293B"/>
              </a:solidFill>
            </a:endParaRPr>
          </a:p>
          <a:p>
            <a:pPr algn="l">
              <a:spcBef>
                <a:spcPts val="800"/>
              </a:spcBef>
            </a:pPr>
            <a:r>
              <a:rPr sz="1200" b="0" i="0" dirty="0">
                <a:solidFill>
                  <a:srgbClr val="1E293B"/>
                </a:solidFill>
              </a:rPr>
              <a:t>▸  Zero </a:t>
            </a:r>
            <a:r>
              <a:rPr sz="1200" b="0" i="0" dirty="0" err="1">
                <a:solidFill>
                  <a:srgbClr val="1E293B"/>
                </a:solidFill>
              </a:rPr>
              <a:t>konfiguracji</a:t>
            </a:r>
            <a:r>
              <a:rPr sz="1200" b="0" i="0" dirty="0">
                <a:solidFill>
                  <a:srgbClr val="1E293B"/>
                </a:solidFill>
              </a:rPr>
              <a:t> — </a:t>
            </a:r>
            <a:r>
              <a:rPr sz="1200" b="0" i="0" dirty="0" err="1">
                <a:solidFill>
                  <a:srgbClr val="1E293B"/>
                </a:solidFill>
              </a:rPr>
              <a:t>gotowe</a:t>
            </a:r>
            <a:r>
              <a:rPr sz="1200" b="0" i="0" dirty="0">
                <a:solidFill>
                  <a:srgbClr val="1E293B"/>
                </a:solidFill>
              </a:rPr>
              <a:t> po </a:t>
            </a:r>
            <a:r>
              <a:rPr sz="1200" b="0" i="0" dirty="0" err="1">
                <a:solidFill>
                  <a:srgbClr val="1E293B"/>
                </a:solidFill>
              </a:rPr>
              <a:t>starcie</a:t>
            </a:r>
            <a:r>
              <a:rPr sz="1200" b="0" i="0" dirty="0">
                <a:solidFill>
                  <a:srgbClr val="1E293B"/>
                </a:solidFill>
              </a:rPr>
              <a:t> </a:t>
            </a:r>
            <a:r>
              <a:rPr sz="1200" b="0" i="0" dirty="0" err="1">
                <a:solidFill>
                  <a:srgbClr val="1E293B"/>
                </a:solidFill>
              </a:rPr>
              <a:t>aplikacji</a:t>
            </a:r>
            <a:endParaRPr sz="1200" b="0" i="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Tryb ciemny i responsywność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Nowoczesny UX gotowy na każde warunki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 / 14</a:t>
            </a:r>
          </a:p>
        </p:txBody>
      </p:sp>
      <p:pic>
        <p:nvPicPr>
          <p:cNvPr id="10" name="Picture 9" descr="01_pulp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669280" cy="3543300"/>
          </a:xfrm>
          <a:prstGeom prst="rect">
            <a:avLst/>
          </a:prstGeom>
        </p:spPr>
      </p:pic>
      <p:pic>
        <p:nvPicPr>
          <p:cNvPr id="11" name="Picture 10" descr="10_tryb_ciemn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669280" cy="35433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4320" y="1143000"/>
            <a:ext cx="192024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143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Tryb jasny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194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Tryb ciemny (auto)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897880"/>
            <a:ext cx="116403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89788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@media (prefers-color-scheme: dark)  ·  CSS zmienne kolorów  ·  Zero JavaScript — automatyczne przełączanie na podstawie ustawień systemu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 Księgowy a KSeF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</a:rPr>
              <a:t>Różne poziomy abstrakcji — wzajemne uzupełnianie, nie konkurencja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Agent Księgowy  ·  Projekt zaliczeniowy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41605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Funkcja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143000"/>
            <a:ext cx="3749039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143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KSeF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143000"/>
            <a:ext cx="35661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Agent Księgowy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00200"/>
            <a:ext cx="41605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16642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Obsługa skanów / zdjęć / PDF bez warstwy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6002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16642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NIE — tylko XML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00200"/>
            <a:ext cx="35661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6642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 — Tesseract OCR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57400"/>
            <a:ext cx="4160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" y="21214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Kategoryzacja wydatków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05740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21214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0574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22208" y="21214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 — 13 kategorii + Bielik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14600"/>
            <a:ext cx="41605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" y="25786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Dashboard i wykresy analityczne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5146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81728" y="25786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514600"/>
            <a:ext cx="35661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22208" y="2578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 — Chart.js, KPI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971800"/>
            <a:ext cx="4160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" y="30358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Ręczna korekta danych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97180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81728" y="30358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NIE — faktura niezmienialna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9718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22208" y="30358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 — modal edycji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429000"/>
            <a:ext cx="41605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" y="34930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Eksport CSV / XLSX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3429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81728" y="34930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NIE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429000"/>
            <a:ext cx="35661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22208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 — 21 kolumn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86200"/>
            <a:ext cx="4160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9768" y="39502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Praca offline / prywatność danych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388620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81728" y="39502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NIE — wymaga internetu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38862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22208" y="39502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 — w pełni lokalny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343400"/>
            <a:ext cx="41605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768" y="44074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Faktury zagraniczne, paragony, archiwa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43434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81728" y="44074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NIE — poza zakresem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4343400"/>
            <a:ext cx="35661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22208" y="44074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800600"/>
            <a:ext cx="4160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8" y="486460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Obowiązkowy obieg e-faktur między firmami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20" y="480060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681728" y="4864608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TAK — to jego rola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58200" y="48006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22208" y="4864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NIE (poza zakresem)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897880"/>
            <a:ext cx="1145743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KSeF i Agent Księgowy nie konkurują — uzupełniają się. KSeF: obieg faktur między podmiotami. Agent Księgowy: wewnętrzne przetwarzanie i analityka.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640080" y="6126480"/>
            <a:ext cx="1118311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Podsumowanie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5029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310896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OCR dla wszystkiego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904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Skany, zdjęcia, PDF — niezależnie od źródła dokumentu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84832"/>
            <a:ext cx="310896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084832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15798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Automatyczna kategoryzacja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15798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13 kategorii kosztowych + opcjonalny Bielik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52344"/>
            <a:ext cx="310896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52344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82549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82549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Edycja i zatwierdzenie przed użyciem w rozliczeniach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19856"/>
            <a:ext cx="310896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419856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49300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Dashboard i analityka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4930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KPI, wykresy wydatków wg kategorii i miesiąca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87368"/>
            <a:ext cx="310896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08736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160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Eksport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160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CSV + XLSX z 21 kolumnami, filtrowanie przed eksportem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754880"/>
            <a:ext cx="310896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4754880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8280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Praca offline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8280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Dane nie opuszczają komputera użytkownika — pełna prywatność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422392"/>
            <a:ext cx="310896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422392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4955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Gotowy od razu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start.sh → działa — zero konfiguracji chmurowej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14476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Bartłomiej Białobrzewski  ·  Aner Ot  ·  Michał Studziński  ·  Piotr Mazur  |  11 czerwca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1202</Words>
  <Application>Microsoft Macintosh PowerPoint</Application>
  <PresentationFormat>Custom</PresentationFormat>
  <Paragraphs>220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Bartłomiej Białobrzewski</cp:lastModifiedBy>
  <cp:revision>3</cp:revision>
  <dcterms:created xsi:type="dcterms:W3CDTF">2013-01-27T09:14:16Z</dcterms:created>
  <dcterms:modified xsi:type="dcterms:W3CDTF">2026-06-17T11:24:51Z</dcterms:modified>
  <cp:category/>
</cp:coreProperties>
</file>